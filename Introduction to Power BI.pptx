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lacial Indifference Bold" charset="1" panose="00000800000000000000"/>
      <p:regular r:id="rId21"/>
    </p:embeddedFont>
    <p:embeddedFont>
      <p:font typeface="Glacial Indifference" charset="1" panose="00000000000000000000"/>
      <p:regular r:id="rId22"/>
    </p:embeddedFont>
    <p:embeddedFont>
      <p:font typeface="HK Grotesk Bold" charset="1" panose="00000800000000000000"/>
      <p:regular r:id="rId23"/>
    </p:embeddedFont>
    <p:embeddedFont>
      <p:font typeface="HK Grotesk" charset="1" panose="00000500000000000000"/>
      <p:regular r:id="rId24"/>
    </p:embeddedFont>
    <p:embeddedFont>
      <p:font typeface="Canva Sans" charset="1" panose="020B0503030501040103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www.theforage.com/simulations/tata/data-visualisation-p5xo" TargetMode="External" Type="http://schemas.openxmlformats.org/officeDocument/2006/relationships/hyperlink"/><Relationship Id="rId4" Target="https://www.theforage.com/simulations/tata/data-visualisation-p5xo" TargetMode="External" Type="http://schemas.openxmlformats.org/officeDocument/2006/relationships/hyperlink"/><Relationship Id="rId5" Target="https://hevodata.com/learn/top-10-best-power-bi-dashboard-examples/" TargetMode="External" Type="http://schemas.openxmlformats.org/officeDocument/2006/relationships/hyperlink"/><Relationship Id="rId6" Target="https://hevodata.com/learn/10-best-power-bi-reports-examples/" TargetMode="External" Type="http://schemas.openxmlformats.org/officeDocument/2006/relationships/hyperlink"/><Relationship Id="rId7" Target="https://github.com/Ayushi0214/Datasets/tree/main" TargetMode="External" Type="http://schemas.openxmlformats.org/officeDocument/2006/relationships/hyperlink"/><Relationship Id="rId8" Target="https://medium.com/@arjunuttamsharma561/power-bi-desktop-for-beginners-b3c2bbac27e4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51632" y="3377707"/>
            <a:ext cx="8984736" cy="4308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769EB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 TO </a:t>
            </a:r>
          </a:p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769EB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8336" y="3022571"/>
            <a:ext cx="8984736" cy="4308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769EB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SPEAKERS </a:t>
            </a:r>
          </a:p>
          <a:p>
            <a:pPr algn="ctr">
              <a:lnSpc>
                <a:spcPts val="11307"/>
              </a:lnSpc>
            </a:pPr>
            <a:r>
              <a:rPr lang="en-US" sz="10006">
                <a:solidFill>
                  <a:srgbClr val="769EB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NANCY GUPTA</a:t>
            </a:r>
          </a:p>
          <a:p>
            <a:pPr algn="ctr">
              <a:lnSpc>
                <a:spcPts val="11307"/>
              </a:lnSpc>
            </a:pPr>
            <a:r>
              <a:rPr lang="en-US" sz="10006">
                <a:solidFill>
                  <a:srgbClr val="769EB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ALEESHA SINGH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66800"/>
            <a:ext cx="6142093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22200"/>
            <a:ext cx="13438303" cy="1336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1) Introduction </a:t>
            </a:r>
          </a:p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2) Applications</a:t>
            </a:r>
          </a:p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3) Features of Power BI</a:t>
            </a:r>
          </a:p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4) Components of Power BI</a:t>
            </a:r>
          </a:p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5) Why use Power BI</a:t>
            </a:r>
          </a:p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6) Ways to use Power BI</a:t>
            </a:r>
          </a:p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7)Tableau vs Power BI</a:t>
            </a:r>
          </a:p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8) How to Download Power BI</a:t>
            </a:r>
          </a:p>
          <a:p>
            <a:pPr algn="l">
              <a:lnSpc>
                <a:spcPts val="6234"/>
              </a:lnSpc>
            </a:pPr>
            <a:r>
              <a:rPr lang="en-US" sz="445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9) Resources</a:t>
            </a:r>
          </a:p>
          <a:p>
            <a:pPr algn="l">
              <a:lnSpc>
                <a:spcPts val="6234"/>
              </a:lnSpc>
            </a:pPr>
          </a:p>
          <a:p>
            <a:pPr algn="l">
              <a:lnSpc>
                <a:spcPts val="6234"/>
              </a:lnSpc>
            </a:pPr>
          </a:p>
          <a:p>
            <a:pPr algn="l">
              <a:lnSpc>
                <a:spcPts val="6234"/>
              </a:lnSpc>
            </a:pPr>
          </a:p>
          <a:p>
            <a:pPr algn="l">
              <a:lnSpc>
                <a:spcPts val="6234"/>
              </a:lnSpc>
            </a:pPr>
          </a:p>
          <a:p>
            <a:pPr algn="l">
              <a:lnSpc>
                <a:spcPts val="6234"/>
              </a:lnSpc>
            </a:pPr>
          </a:p>
          <a:p>
            <a:pPr algn="l">
              <a:lnSpc>
                <a:spcPts val="6234"/>
              </a:lnSpc>
            </a:pPr>
          </a:p>
          <a:p>
            <a:pPr algn="l">
              <a:lnSpc>
                <a:spcPts val="6234"/>
              </a:lnSpc>
            </a:pPr>
          </a:p>
          <a:p>
            <a:pPr algn="l">
              <a:lnSpc>
                <a:spcPts val="623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01450" y="1028700"/>
            <a:ext cx="5657850" cy="8229600"/>
          </a:xfrm>
          <a:custGeom>
            <a:avLst/>
            <a:gdLst/>
            <a:ahLst/>
            <a:cxnLst/>
            <a:rect r="r" b="b" t="t" l="l"/>
            <a:pathLst>
              <a:path h="8229600" w="5657850">
                <a:moveTo>
                  <a:pt x="0" y="0"/>
                </a:moveTo>
                <a:lnTo>
                  <a:pt x="5657850" y="0"/>
                </a:lnTo>
                <a:lnTo>
                  <a:pt x="56578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0585" y="1418604"/>
            <a:ext cx="7103388" cy="207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b="true" sz="7204">
                <a:solidFill>
                  <a:srgbClr val="769EB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WHAT WILL YOU LEARN?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0585" y="4895850"/>
            <a:ext cx="8743415" cy="491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4388">
                <a:solidFill>
                  <a:srgbClr val="769EBE"/>
                </a:solidFill>
                <a:latin typeface="HK Grotesk"/>
                <a:ea typeface="HK Grotesk"/>
                <a:cs typeface="HK Grotesk"/>
                <a:sym typeface="HK Grotesk"/>
              </a:rPr>
              <a:t>The Basics of Power BI and it's Key Features </a:t>
            </a:r>
          </a:p>
          <a:p>
            <a:pPr algn="l">
              <a:lnSpc>
                <a:spcPts val="7899"/>
              </a:lnSpc>
            </a:pPr>
          </a:p>
          <a:p>
            <a:pPr algn="l">
              <a:lnSpc>
                <a:spcPts val="7899"/>
              </a:lnSpc>
            </a:pPr>
            <a:r>
              <a:rPr lang="en-US" sz="4388">
                <a:solidFill>
                  <a:srgbClr val="769EBE"/>
                </a:solidFill>
                <a:latin typeface="HK Grotesk"/>
                <a:ea typeface="HK Grotesk"/>
                <a:cs typeface="HK Grotesk"/>
                <a:sym typeface="HK Grotesk"/>
              </a:rPr>
              <a:t> How To create interactive Dashboards and Reports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9267916" y="1028700"/>
            <a:ext cx="8229600" cy="8229600"/>
            <a:chOff x="0" y="0"/>
            <a:chExt cx="14840029" cy="148400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/>
              <a:stretch>
                <a:fillRect l="-24712" t="0" r="-2471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3845" y="129037"/>
            <a:ext cx="8690155" cy="1078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1"/>
              </a:lnSpc>
            </a:pPr>
          </a:p>
          <a:p>
            <a:pPr algn="l">
              <a:lnSpc>
                <a:spcPts val="5701"/>
              </a:lnSpc>
            </a:pPr>
          </a:p>
          <a:p>
            <a:pPr algn="l">
              <a:lnSpc>
                <a:spcPts val="5701"/>
              </a:lnSpc>
            </a:pPr>
            <a:r>
              <a:rPr lang="en-US" sz="40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Power BI is a business intelligence (BI) and data visualization tool developed by Microsoft. It allows users to connect to various data sources, transform raw data, and create interactive reports and dashboards.</a:t>
            </a:r>
          </a:p>
          <a:p>
            <a:pPr algn="l">
              <a:lnSpc>
                <a:spcPts val="5701"/>
              </a:lnSpc>
            </a:pPr>
          </a:p>
          <a:p>
            <a:pPr algn="l">
              <a:lnSpc>
                <a:spcPts val="5701"/>
              </a:lnSpc>
            </a:pPr>
            <a:r>
              <a:rPr lang="en-US" sz="40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Power BI is widely used for data analysis, reporting, and decision-making in businesses and organizations.</a:t>
            </a:r>
          </a:p>
          <a:p>
            <a:pPr algn="l">
              <a:lnSpc>
                <a:spcPts val="570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77761" y="109987"/>
            <a:ext cx="14514286" cy="91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0"/>
              </a:lnSpc>
            </a:pPr>
            <a:r>
              <a:rPr lang="en-US" sz="5442" b="true">
                <a:solidFill>
                  <a:srgbClr val="769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47410">
            <a:off x="366338" y="7939297"/>
            <a:ext cx="1324724" cy="2199657"/>
          </a:xfrm>
          <a:custGeom>
            <a:avLst/>
            <a:gdLst/>
            <a:ahLst/>
            <a:cxnLst/>
            <a:rect r="r" b="b" t="t" l="l"/>
            <a:pathLst>
              <a:path h="2199657" w="1324724">
                <a:moveTo>
                  <a:pt x="1324724" y="0"/>
                </a:moveTo>
                <a:lnTo>
                  <a:pt x="0" y="0"/>
                </a:lnTo>
                <a:lnTo>
                  <a:pt x="0" y="2199657"/>
                </a:lnTo>
                <a:lnTo>
                  <a:pt x="1324724" y="2199657"/>
                </a:lnTo>
                <a:lnTo>
                  <a:pt x="132472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0490" y="1361881"/>
            <a:ext cx="15016994" cy="756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05"/>
              </a:lnSpc>
            </a:pPr>
            <a:r>
              <a:rPr lang="en-US" sz="3902">
                <a:solidFill>
                  <a:srgbClr val="F6F6E0"/>
                </a:solidFill>
                <a:latin typeface="HK Grotesk"/>
                <a:ea typeface="HK Grotesk"/>
                <a:cs typeface="HK Grotesk"/>
                <a:sym typeface="HK Grotesk"/>
              </a:rPr>
              <a:t>Power BI is ideal for anyone who needs to analyze data, create reports, and make data-driven decisions. </a:t>
            </a:r>
          </a:p>
          <a:p>
            <a:pPr algn="just">
              <a:lnSpc>
                <a:spcPts val="4605"/>
              </a:lnSpc>
            </a:pPr>
            <a:r>
              <a:rPr lang="en-US" sz="3902">
                <a:solidFill>
                  <a:srgbClr val="F6F6E0"/>
                </a:solidFill>
                <a:latin typeface="HK Grotesk"/>
                <a:ea typeface="HK Grotesk"/>
                <a:cs typeface="HK Grotesk"/>
                <a:sym typeface="HK Grotesk"/>
              </a:rPr>
              <a:t>It is used across various industries and job roles:</a:t>
            </a:r>
          </a:p>
          <a:p>
            <a:pPr algn="just">
              <a:lnSpc>
                <a:spcPts val="4605"/>
              </a:lnSpc>
            </a:pPr>
          </a:p>
          <a:p>
            <a:pPr algn="just">
              <a:lnSpc>
                <a:spcPts val="4605"/>
              </a:lnSpc>
            </a:pPr>
            <a:r>
              <a:rPr lang="en-US" sz="3902" b="true">
                <a:solidFill>
                  <a:srgbClr val="F6F6E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1)Business Analyst and Data Analyst</a:t>
            </a:r>
          </a:p>
          <a:p>
            <a:pPr algn="just">
              <a:lnSpc>
                <a:spcPts val="4605"/>
              </a:lnSpc>
            </a:pPr>
            <a:r>
              <a:rPr lang="en-US" sz="3902" b="true">
                <a:solidFill>
                  <a:srgbClr val="F6F6E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</a:p>
          <a:p>
            <a:pPr algn="just">
              <a:lnSpc>
                <a:spcPts val="4605"/>
              </a:lnSpc>
            </a:pPr>
            <a:r>
              <a:rPr lang="en-US" sz="3902" b="true">
                <a:solidFill>
                  <a:srgbClr val="F6F6E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2)Business Intelligence (BI) Professionals</a:t>
            </a:r>
          </a:p>
          <a:p>
            <a:pPr algn="just">
              <a:lnSpc>
                <a:spcPts val="4605"/>
              </a:lnSpc>
            </a:pPr>
          </a:p>
          <a:p>
            <a:pPr algn="just">
              <a:lnSpc>
                <a:spcPts val="4605"/>
              </a:lnSpc>
            </a:pPr>
            <a:r>
              <a:rPr lang="en-US" sz="3902" b="true">
                <a:solidFill>
                  <a:srgbClr val="F6F6E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3)Managers &amp; decision makers</a:t>
            </a:r>
          </a:p>
          <a:p>
            <a:pPr algn="just">
              <a:lnSpc>
                <a:spcPts val="4605"/>
              </a:lnSpc>
            </a:pPr>
          </a:p>
          <a:p>
            <a:pPr algn="just">
              <a:lnSpc>
                <a:spcPts val="4605"/>
              </a:lnSpc>
            </a:pPr>
            <a:r>
              <a:rPr lang="en-US" sz="3902" b="true">
                <a:solidFill>
                  <a:srgbClr val="F6F6E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4)Finance and Accounting Professionals</a:t>
            </a:r>
          </a:p>
          <a:p>
            <a:pPr algn="just">
              <a:lnSpc>
                <a:spcPts val="4605"/>
              </a:lnSpc>
            </a:pPr>
            <a:r>
              <a:rPr lang="en-US" sz="3902" b="true">
                <a:solidFill>
                  <a:srgbClr val="F6F6E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</a:p>
          <a:p>
            <a:pPr algn="just">
              <a:lnSpc>
                <a:spcPts val="4605"/>
              </a:lnSpc>
            </a:pPr>
            <a:r>
              <a:rPr lang="en-US" b="true" sz="3902">
                <a:solidFill>
                  <a:srgbClr val="F6F6E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5)IT Professionals and Developers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148690"/>
            <a:ext cx="8115300" cy="7989621"/>
          </a:xfrm>
          <a:custGeom>
            <a:avLst/>
            <a:gdLst/>
            <a:ahLst/>
            <a:cxnLst/>
            <a:rect r="r" b="b" t="t" l="l"/>
            <a:pathLst>
              <a:path h="7989621" w="8115300">
                <a:moveTo>
                  <a:pt x="0" y="0"/>
                </a:moveTo>
                <a:lnTo>
                  <a:pt x="8115300" y="0"/>
                </a:lnTo>
                <a:lnTo>
                  <a:pt x="8115300" y="7989620"/>
                </a:lnTo>
                <a:lnTo>
                  <a:pt x="0" y="7989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5992"/>
            <a:ext cx="6142093" cy="20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769EB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FEATURES OF POWER BI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826252"/>
            <a:ext cx="8939460" cy="927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CONNECTIVITY: </a:t>
            </a: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Connects to multiple data sources like Excel, SQL server and cloud databases. 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b="true" sz="35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TRANSFORMATION: </a:t>
            </a: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Cleans and transforms data using Power Query.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VISUALIZATION : </a:t>
            </a: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Creates interactive charts, graphs, and dashboards.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AI POWERED INSIGHTS:</a:t>
            </a: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Uses artificial intelligence for advanced analytics.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13273" y="2957254"/>
            <a:ext cx="1437822" cy="1726642"/>
          </a:xfrm>
          <a:custGeom>
            <a:avLst/>
            <a:gdLst/>
            <a:ahLst/>
            <a:cxnLst/>
            <a:rect r="r" b="b" t="t" l="l"/>
            <a:pathLst>
              <a:path h="1726642" w="1437822">
                <a:moveTo>
                  <a:pt x="0" y="0"/>
                </a:moveTo>
                <a:lnTo>
                  <a:pt x="1437823" y="0"/>
                </a:lnTo>
                <a:lnTo>
                  <a:pt x="1437823" y="1726642"/>
                </a:lnTo>
                <a:lnTo>
                  <a:pt x="0" y="1726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72953" y="1528495"/>
            <a:ext cx="6142093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COMPONENTS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913273" y="4683896"/>
            <a:ext cx="1437822" cy="1726642"/>
          </a:xfrm>
          <a:custGeom>
            <a:avLst/>
            <a:gdLst/>
            <a:ahLst/>
            <a:cxnLst/>
            <a:rect r="r" b="b" t="t" l="l"/>
            <a:pathLst>
              <a:path h="1726642" w="1437822">
                <a:moveTo>
                  <a:pt x="0" y="0"/>
                </a:moveTo>
                <a:lnTo>
                  <a:pt x="1437823" y="0"/>
                </a:lnTo>
                <a:lnTo>
                  <a:pt x="1437823" y="1726643"/>
                </a:lnTo>
                <a:lnTo>
                  <a:pt x="0" y="1726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13273" y="6410539"/>
            <a:ext cx="1437822" cy="1726642"/>
          </a:xfrm>
          <a:custGeom>
            <a:avLst/>
            <a:gdLst/>
            <a:ahLst/>
            <a:cxnLst/>
            <a:rect r="r" b="b" t="t" l="l"/>
            <a:pathLst>
              <a:path h="1726642" w="1437822">
                <a:moveTo>
                  <a:pt x="0" y="0"/>
                </a:moveTo>
                <a:lnTo>
                  <a:pt x="1437823" y="0"/>
                </a:lnTo>
                <a:lnTo>
                  <a:pt x="1437823" y="1726642"/>
                </a:lnTo>
                <a:lnTo>
                  <a:pt x="0" y="1726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72953" y="3253752"/>
            <a:ext cx="7585809" cy="101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594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BI DESKTOP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72953" y="4949373"/>
            <a:ext cx="7015684" cy="101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594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BI MOBILE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72953" y="6644994"/>
            <a:ext cx="7061758" cy="207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594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BI SERVICE</a:t>
            </a:r>
          </a:p>
          <a:p>
            <a:pPr algn="ctr">
              <a:lnSpc>
                <a:spcPts val="8320"/>
              </a:lnSpc>
            </a:pPr>
            <a:r>
              <a:rPr lang="en-US" sz="594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321286" y="3222031"/>
            <a:ext cx="6386000" cy="6386000"/>
            <a:chOff x="0" y="0"/>
            <a:chExt cx="14840029" cy="148400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/>
              <a:stretch>
                <a:fillRect l="-24572" t="0" r="-2457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-2292454" y="38100"/>
            <a:ext cx="14555834" cy="117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5"/>
              </a:lnSpc>
            </a:pPr>
            <a:r>
              <a:rPr lang="en-US" b="true" sz="7969">
                <a:solidFill>
                  <a:srgbClr val="769EB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USE POWER BI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8235" y="1947816"/>
            <a:ext cx="14531529" cy="690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1) Ease of use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2) I</a:t>
            </a: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ntegration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3) </a:t>
            </a: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Real-time updates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4) I</a:t>
            </a: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nteractive dashboards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5) </a:t>
            </a: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transformation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6) </a:t>
            </a: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Advanced analytics</a:t>
            </a:r>
          </a:p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7) </a:t>
            </a: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Affordable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463842" y="652928"/>
            <a:ext cx="18288000" cy="146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</a:pPr>
            <a:r>
              <a:rPr lang="en-US" b="true" sz="9975">
                <a:solidFill>
                  <a:srgbClr val="769EB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WAYS TO USE POWER BI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07963" y="2927243"/>
            <a:ext cx="13272074" cy="565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7"/>
              </a:lnSpc>
            </a:pP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1) Data Visualization</a:t>
            </a:r>
          </a:p>
          <a:p>
            <a:pPr algn="l">
              <a:lnSpc>
                <a:spcPts val="7477"/>
              </a:lnSpc>
            </a:pP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2) </a:t>
            </a: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Integration</a:t>
            </a:r>
          </a:p>
          <a:p>
            <a:pPr algn="l">
              <a:lnSpc>
                <a:spcPts val="7477"/>
              </a:lnSpc>
            </a:pP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3) B</a:t>
            </a: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usiness Analytics</a:t>
            </a:r>
          </a:p>
          <a:p>
            <a:pPr algn="l">
              <a:lnSpc>
                <a:spcPts val="7477"/>
              </a:lnSpc>
            </a:pP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4) </a:t>
            </a: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Collaboration</a:t>
            </a:r>
          </a:p>
          <a:p>
            <a:pPr algn="l">
              <a:lnSpc>
                <a:spcPts val="7477"/>
              </a:lnSpc>
            </a:pP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5) </a:t>
            </a: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Predictive Analytics &amp; AI</a:t>
            </a:r>
          </a:p>
          <a:p>
            <a:pPr algn="l">
              <a:lnSpc>
                <a:spcPts val="7477"/>
              </a:lnSpc>
            </a:pP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6) </a:t>
            </a:r>
            <a:r>
              <a:rPr lang="en-US" sz="534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Mobile Access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4427" y="2267378"/>
            <a:ext cx="7938224" cy="7264528"/>
            <a:chOff x="0" y="0"/>
            <a:chExt cx="2090726" cy="19132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0726" cy="1913291"/>
            </a:xfrm>
            <a:custGeom>
              <a:avLst/>
              <a:gdLst/>
              <a:ahLst/>
              <a:cxnLst/>
              <a:rect r="r" b="b" t="t" l="l"/>
              <a:pathLst>
                <a:path h="1913291" w="2090726">
                  <a:moveTo>
                    <a:pt x="0" y="0"/>
                  </a:moveTo>
                  <a:lnTo>
                    <a:pt x="2090726" y="0"/>
                  </a:lnTo>
                  <a:lnTo>
                    <a:pt x="2090726" y="1913291"/>
                  </a:lnTo>
                  <a:lnTo>
                    <a:pt x="0" y="1913291"/>
                  </a:lnTo>
                  <a:close/>
                </a:path>
              </a:pathLst>
            </a:custGeom>
            <a:solidFill>
              <a:srgbClr val="147165">
                <a:alpha val="4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90726" cy="1951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2301565"/>
            <a:ext cx="8804122" cy="7230341"/>
            <a:chOff x="0" y="0"/>
            <a:chExt cx="2318781" cy="19042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8781" cy="1904287"/>
            </a:xfrm>
            <a:custGeom>
              <a:avLst/>
              <a:gdLst/>
              <a:ahLst/>
              <a:cxnLst/>
              <a:rect r="r" b="b" t="t" l="l"/>
              <a:pathLst>
                <a:path h="1904287" w="2318781">
                  <a:moveTo>
                    <a:pt x="0" y="0"/>
                  </a:moveTo>
                  <a:lnTo>
                    <a:pt x="2318781" y="0"/>
                  </a:lnTo>
                  <a:lnTo>
                    <a:pt x="2318781" y="1904287"/>
                  </a:lnTo>
                  <a:lnTo>
                    <a:pt x="0" y="1904287"/>
                  </a:lnTo>
                  <a:close/>
                </a:path>
              </a:pathLst>
            </a:custGeom>
            <a:solidFill>
              <a:srgbClr val="147165">
                <a:alpha val="4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18781" cy="1942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89033" y="2814398"/>
            <a:ext cx="6949012" cy="63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6"/>
              </a:lnSpc>
            </a:pPr>
            <a:r>
              <a:rPr lang="en-US" sz="51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1) More complex, requires prior experience. </a:t>
            </a:r>
          </a:p>
          <a:p>
            <a:pPr algn="l">
              <a:lnSpc>
                <a:spcPts val="8466"/>
              </a:lnSpc>
            </a:pPr>
            <a:r>
              <a:rPr lang="en-US" sz="51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2) Expensive (subscription- based)</a:t>
            </a:r>
          </a:p>
          <a:p>
            <a:pPr algn="l">
              <a:lnSpc>
                <a:spcPts val="8466"/>
              </a:lnSpc>
            </a:pPr>
            <a:r>
              <a:rPr lang="en-US" sz="51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3) Limited AI Features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8829" y="296791"/>
            <a:ext cx="13822159" cy="152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21"/>
              </a:lnSpc>
            </a:pPr>
            <a:r>
              <a:rPr lang="en-US" b="true" sz="10373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TABLEAU VS POWER BI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5583" y="2814398"/>
            <a:ext cx="7833717" cy="63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6"/>
              </a:lnSpc>
            </a:pPr>
            <a:r>
              <a:rPr lang="en-US" sz="51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1)Easier for beginners with an intuitive interface </a:t>
            </a:r>
          </a:p>
          <a:p>
            <a:pPr algn="l">
              <a:lnSpc>
                <a:spcPts val="8466"/>
              </a:lnSpc>
            </a:pPr>
            <a:r>
              <a:rPr lang="en-US" sz="51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2)More affordable, offers a free version</a:t>
            </a:r>
          </a:p>
          <a:p>
            <a:pPr algn="l">
              <a:lnSpc>
                <a:spcPts val="8466"/>
              </a:lnSpc>
            </a:pPr>
            <a:r>
              <a:rPr lang="en-US" sz="51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3) Strong AI and Machine Learning capabilities.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451861" y="-1853798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5"/>
                </a:lnTo>
                <a:lnTo>
                  <a:pt x="0" y="14514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145016" y="1852832"/>
            <a:ext cx="5883651" cy="7405468"/>
            <a:chOff x="0" y="0"/>
            <a:chExt cx="1549604" cy="1950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9604" cy="1950411"/>
            </a:xfrm>
            <a:custGeom>
              <a:avLst/>
              <a:gdLst/>
              <a:ahLst/>
              <a:cxnLst/>
              <a:rect r="r" b="b" t="t" l="l"/>
              <a:pathLst>
                <a:path h="1950411" w="1549604">
                  <a:moveTo>
                    <a:pt x="0" y="0"/>
                  </a:moveTo>
                  <a:lnTo>
                    <a:pt x="1549604" y="0"/>
                  </a:lnTo>
                  <a:lnTo>
                    <a:pt x="1549604" y="1950411"/>
                  </a:lnTo>
                  <a:lnTo>
                    <a:pt x="0" y="1950411"/>
                  </a:lnTo>
                  <a:close/>
                </a:path>
              </a:pathLst>
            </a:custGeom>
            <a:solidFill>
              <a:srgbClr val="147165">
                <a:alpha val="6000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49604" cy="1988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38219" y="1776632"/>
            <a:ext cx="11498630" cy="526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4"/>
              </a:lnSpc>
            </a:pPr>
            <a:r>
              <a:rPr lang="en-US" sz="37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To download Power BI Desktop, go to the Power BI Desktop download page and select Download Free. Or for download options, select See download or language options.</a:t>
            </a:r>
          </a:p>
          <a:p>
            <a:pPr algn="l">
              <a:lnSpc>
                <a:spcPts val="5284"/>
              </a:lnSpc>
            </a:pPr>
          </a:p>
          <a:p>
            <a:pPr algn="l">
              <a:lnSpc>
                <a:spcPts val="5284"/>
              </a:lnSpc>
            </a:pPr>
            <a:r>
              <a:rPr lang="en-US" sz="377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You can also download Power BI Desktop from the Power BI service. Select the Download icon in the top menu bar, and then select Power BI Desktop.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41746" y="2180131"/>
            <a:ext cx="5090191" cy="6446427"/>
          </a:xfrm>
          <a:custGeom>
            <a:avLst/>
            <a:gdLst/>
            <a:ahLst/>
            <a:cxnLst/>
            <a:rect r="r" b="b" t="t" l="l"/>
            <a:pathLst>
              <a:path h="6446427" w="5090191">
                <a:moveTo>
                  <a:pt x="0" y="0"/>
                </a:moveTo>
                <a:lnTo>
                  <a:pt x="5090191" y="0"/>
                </a:lnTo>
                <a:lnTo>
                  <a:pt x="5090191" y="6446427"/>
                </a:lnTo>
                <a:lnTo>
                  <a:pt x="0" y="6446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520" t="0" r="-5967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7204" y="38100"/>
            <a:ext cx="14375300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STEPS TO DOWNLOAD POWER BI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539" y="3079979"/>
            <a:ext cx="16908922" cy="55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526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1) </a:t>
            </a:r>
            <a:r>
              <a:rPr lang="en-US" b="true" sz="3526" u="sng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hlinkClick r:id="rId3" tooltip="https://www.theforage.com/simulations/tata/data-visualisation-p5xo"/>
              </a:rPr>
              <a:t>T</a:t>
            </a:r>
            <a:r>
              <a:rPr lang="en-US" sz="3526" u="sng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4" tooltip="https://www.theforage.com/simulations/tata/data-visualisation-p5xo"/>
              </a:rPr>
              <a:t>ATA GROUP SIMULATION</a:t>
            </a:r>
            <a:r>
              <a:rPr lang="en-US" sz="352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</a:p>
          <a:p>
            <a:pPr algn="l">
              <a:lnSpc>
                <a:spcPts val="4937"/>
              </a:lnSpc>
            </a:pPr>
          </a:p>
          <a:p>
            <a:pPr algn="l">
              <a:lnSpc>
                <a:spcPts val="4937"/>
              </a:lnSpc>
            </a:pPr>
            <a:r>
              <a:rPr lang="en-US" sz="3526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2) </a:t>
            </a:r>
            <a:r>
              <a:rPr lang="en-US" sz="3526" u="sng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5" tooltip="https://hevodata.com/learn/top-10-best-power-bi-dashboard-examples/"/>
              </a:rPr>
              <a:t>TOP 10 TEMPLATES</a:t>
            </a:r>
            <a:r>
              <a:rPr lang="en-US" sz="352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OF 2025</a:t>
            </a:r>
          </a:p>
          <a:p>
            <a:pPr algn="l">
              <a:lnSpc>
                <a:spcPts val="4937"/>
              </a:lnSpc>
            </a:pPr>
          </a:p>
          <a:p>
            <a:pPr algn="l">
              <a:lnSpc>
                <a:spcPts val="4937"/>
              </a:lnSpc>
            </a:pPr>
            <a:r>
              <a:rPr lang="en-US" sz="3526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3) </a:t>
            </a:r>
            <a:r>
              <a:rPr lang="en-US" sz="3526" u="sng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6" tooltip="https://hevodata.com/learn/10-best-power-bi-reports-examples/"/>
              </a:rPr>
              <a:t>REPORT EXAMPLES</a:t>
            </a:r>
          </a:p>
          <a:p>
            <a:pPr algn="l">
              <a:lnSpc>
                <a:spcPts val="4937"/>
              </a:lnSpc>
            </a:pPr>
          </a:p>
          <a:p>
            <a:pPr algn="l">
              <a:lnSpc>
                <a:spcPts val="4937"/>
              </a:lnSpc>
            </a:pPr>
            <a:r>
              <a:rPr lang="en-US" sz="3526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4) </a:t>
            </a:r>
            <a:r>
              <a:rPr lang="en-US" sz="3526" u="sng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7" tooltip="https://github.com/Ayushi0214/Datasets/tree/main"/>
              </a:rPr>
              <a:t>AVAILABLE DATASETS</a:t>
            </a:r>
          </a:p>
          <a:p>
            <a:pPr algn="l">
              <a:lnSpc>
                <a:spcPts val="4937"/>
              </a:lnSpc>
            </a:pPr>
          </a:p>
          <a:p>
            <a:pPr algn="l">
              <a:lnSpc>
                <a:spcPts val="4937"/>
              </a:lnSpc>
            </a:pPr>
            <a:r>
              <a:rPr lang="en-US" sz="3526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5) </a:t>
            </a:r>
            <a:r>
              <a:rPr lang="en-US" sz="3526" u="sng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  <a:hlinkClick r:id="rId8" tooltip="https://medium.com/@arjunuttamsharma561/power-bi-desktop-for-beginners-b3c2bbac27e4"/>
              </a:rPr>
              <a:t>TUTORIALS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51632" y="336521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ASSET HAVEN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27540" y="373959"/>
            <a:ext cx="14176138" cy="9539083"/>
          </a:xfrm>
          <a:custGeom>
            <a:avLst/>
            <a:gdLst/>
            <a:ahLst/>
            <a:cxnLst/>
            <a:rect r="r" b="b" t="t" l="l"/>
            <a:pathLst>
              <a:path h="9539083" w="14176138">
                <a:moveTo>
                  <a:pt x="0" y="0"/>
                </a:moveTo>
                <a:lnTo>
                  <a:pt x="14176138" y="0"/>
                </a:lnTo>
                <a:lnTo>
                  <a:pt x="14176138" y="9539082"/>
                </a:lnTo>
                <a:lnTo>
                  <a:pt x="0" y="9539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66" t="-83" r="0" b="-10476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29223" y="5029200"/>
            <a:ext cx="13429554" cy="95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8"/>
              </a:lnSpc>
            </a:pPr>
            <a:r>
              <a:rPr lang="en-US" sz="5620">
                <a:solidFill>
                  <a:srgbClr val="769EBE"/>
                </a:solidFill>
                <a:latin typeface="HK Grotesk"/>
                <a:ea typeface="HK Grotesk"/>
                <a:cs typeface="HK Grotesk"/>
                <a:sym typeface="HK Grotesk"/>
              </a:rPr>
              <a:t>FOR YOUR 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178102"/>
            <a:ext cx="18288000" cy="296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5"/>
              </a:lnSpc>
            </a:pPr>
            <a:r>
              <a:rPr lang="en-US" b="true" sz="20367">
                <a:solidFill>
                  <a:srgbClr val="769EB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DAGeKq2TOxk</dc:identifier>
  <dcterms:modified xsi:type="dcterms:W3CDTF">2011-08-01T06:04:30Z</dcterms:modified>
  <cp:revision>1</cp:revision>
  <dc:title>Introduction to power bi</dc:title>
</cp:coreProperties>
</file>